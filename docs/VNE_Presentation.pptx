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0"/>
            <a:ext cx="12191695" cy="2926080"/>
          </a:xfrm>
          <a:prstGeom prst="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56CCF2"/>
                </a:solidFill>
                <a:latin typeface="Calibri"/>
              </a:defRPr>
            </a:pPr>
            <a:r>
              <a:t>Virtual Network Embedding</a:t>
            </a:r>
            <a:br/>
            <a:r>
              <a:t>in Multi-Domain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0B0C0"/>
                </a:solidFill>
                <a:latin typeface="Calibri"/>
              </a:defRPr>
            </a:pPr>
            <a:r>
              <a:t>A Study of PSO, Reinforcement Learning, and Swarm Intelligence 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E9AF5"/>
                </a:solidFill>
                <a:latin typeface="Calibri"/>
              </a:defRPr>
            </a:pPr>
            <a:r>
              <a:t>Duvan Nguyen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788920"/>
            <a:ext cx="3931920" cy="36576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0. 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097280"/>
            <a:ext cx="731520" cy="457200"/>
          </a:xfrm>
          <a:prstGeom prst="round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Calibri"/>
              </a:defRPr>
            </a:pPr>
            <a: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6400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0">
                <a:solidFill>
                  <a:srgbClr val="F0F0F0"/>
                </a:solidFill>
                <a:latin typeface="Calibri"/>
              </a:defRPr>
            </a:pPr>
            <a:r>
              <a:t>Abstract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664207"/>
            <a:ext cx="731520" cy="457200"/>
          </a:xfrm>
          <a:prstGeom prst="roundRect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Calibri"/>
              </a:defRPr>
            </a:pPr>
            <a: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664207"/>
            <a:ext cx="6400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0">
                <a:solidFill>
                  <a:srgbClr val="F0F0F0"/>
                </a:solidFill>
                <a:latin typeface="Calibri"/>
              </a:defRPr>
            </a:pPr>
            <a:r>
              <a:t>Introduction &amp; Motivation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231136"/>
            <a:ext cx="731520" cy="457200"/>
          </a:xfrm>
          <a:prstGeom prst="roundRect">
            <a:avLst/>
          </a:prstGeom>
          <a:solidFill>
            <a:srgbClr val="48D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Calibri"/>
              </a:defRPr>
            </a:pPr>
            <a:r>
              <a:t>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231136"/>
            <a:ext cx="6400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0">
                <a:solidFill>
                  <a:srgbClr val="F0F0F0"/>
                </a:solidFill>
                <a:latin typeface="Calibri"/>
              </a:defRPr>
            </a:pPr>
            <a:r>
              <a:t>Problem Formulation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2798063"/>
            <a:ext cx="731520" cy="457200"/>
          </a:xfrm>
          <a:prstGeom prst="round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Calibri"/>
              </a:defRPr>
            </a:pPr>
            <a:r>
              <a:t>IV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798063"/>
            <a:ext cx="6400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0">
                <a:solidFill>
                  <a:srgbClr val="F0F0F0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3364991"/>
            <a:ext cx="731520" cy="457200"/>
          </a:xfrm>
          <a:prstGeom prst="roundRect">
            <a:avLst/>
          </a:prstGeom>
          <a:solidFill>
            <a:srgbClr val="A27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364991"/>
            <a:ext cx="6400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0">
                <a:solidFill>
                  <a:srgbClr val="F0F0F0"/>
                </a:solidFill>
                <a:latin typeface="Calibri"/>
              </a:defRPr>
            </a:pPr>
            <a:r>
              <a:t>Proposed Methods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3931920"/>
            <a:ext cx="731520" cy="457200"/>
          </a:xfrm>
          <a:prstGeom prst="round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Calibri"/>
              </a:defRPr>
            </a:pPr>
            <a:r>
              <a:t>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931920"/>
            <a:ext cx="6400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0">
                <a:solidFill>
                  <a:srgbClr val="F0F0F0"/>
                </a:solidFill>
                <a:latin typeface="Calibri"/>
              </a:defRPr>
            </a:pPr>
            <a:r>
              <a:t>Experiment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4498848"/>
            <a:ext cx="731520" cy="457200"/>
          </a:xfrm>
          <a:prstGeom prst="roundRect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Calibri"/>
              </a:defRPr>
            </a:pPr>
            <a:r>
              <a:t>VII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498848"/>
            <a:ext cx="6400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0">
                <a:solidFill>
                  <a:srgbClr val="F0F0F0"/>
                </a:solidFill>
                <a:latin typeface="Calibri"/>
              </a:defRPr>
            </a:pPr>
            <a:r>
              <a:t>Results &amp; Discussion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5065776"/>
            <a:ext cx="731520" cy="457200"/>
          </a:xfrm>
          <a:prstGeom prst="roundRect">
            <a:avLst/>
          </a:prstGeom>
          <a:solidFill>
            <a:srgbClr val="48D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Calibri"/>
              </a:defRPr>
            </a:pPr>
            <a:r>
              <a:t>VIII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065776"/>
            <a:ext cx="6400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0">
                <a:solidFill>
                  <a:srgbClr val="F0F0F0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0" y="5632704"/>
            <a:ext cx="731520" cy="457200"/>
          </a:xfrm>
          <a:prstGeom prst="round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0F0F0"/>
                </a:solidFill>
                <a:latin typeface="Calibri"/>
              </a:defRPr>
            </a:pPr>
            <a:r>
              <a:t>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5632704"/>
            <a:ext cx="6400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0">
                <a:solidFill>
                  <a:srgbClr val="F0F0F0"/>
                </a:solidFill>
                <a:latin typeface="Calibri"/>
              </a:defRPr>
            </a:pPr>
            <a: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I. ABSTRACT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10332720" cy="502920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4E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l">
              <a:defRPr sz="1800" b="0">
                <a:solidFill>
                  <a:srgbClr val="F0F0F0"/>
                </a:solidFill>
                <a:latin typeface="Calibri"/>
              </a:defRPr>
            </a:pPr>
            <a:r>
              <a:t>Network virtualization enables multiple virtual networks to coexist on shared physical infrastructure, but efficiently embedding virtual network requests onto substrate networks — the Virtual Network Embedding (VNE) problem — remains NP-hard, especially in multi-domain environments.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F0F0F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800" b="0">
                <a:solidFill>
                  <a:srgbClr val="F0F0F0"/>
                </a:solidFill>
                <a:latin typeface="Calibri"/>
              </a:defRPr>
            </a:pPr>
            <a:r>
              <a:t>This work investigates and compares six VNE algorithms spanning three paradigms: heuristic (greedy), metaheuristic (Particle Swarm Optimization), and learning-based (Q-Learning, Deep Q-Networks, Swarm Reinforcement Learning). All algorithms operate within a unified centralized hierarchical multi-domain architecture.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F0F0F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800" b="0">
                <a:solidFill>
                  <a:srgbClr val="F0F0F0"/>
                </a:solidFill>
                <a:latin typeface="Calibri"/>
              </a:defRPr>
            </a:pPr>
            <a:r>
              <a:t>Experiments on a multi-domain substrate network with 4 domains (120 nodes) show that hybrid approaches combining PSO with DQN-guided fitness and multi-path routing achieve the best trade-off between cost, delay, acceptance rate, and revenue-to-cost ratio. We contextualize our work against the Virne benchmark (ICLR 2026), which identifies generalization and scalability as key open challenges.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F0F0F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500" b="1">
                <a:solidFill>
                  <a:srgbClr val="56CCF2"/>
                </a:solidFill>
                <a:latin typeface="Calibri"/>
              </a:defRPr>
            </a:pPr>
            <a:r>
              <a:t>Keywords: 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48D1A5"/>
                </a:solidFill>
                <a:latin typeface="Calibri"/>
              </a:defRPr>
            </a:pPr>
            <a:r>
              <a:t>Virtual Network Embedding, Particle Swarm Optimization, Deep Q-Network, Swarm Intelligence, Multi-Domain, Multi-Path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II. INTRODUCTION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What is Network Virtualization?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0F0"/>
                </a:solidFill>
                <a:latin typeface="Calibri"/>
              </a:defRPr>
            </a:pPr>
            <a:r>
              <a:t>Network virtualization decouples virtual networks from physical infrastructure, allowing multiple isolated virtual networks to share the same substrate.</a:t>
            </a:r>
          </a:p>
        </p:txBody>
      </p:sp>
      <p:pic>
        <p:nvPicPr>
          <p:cNvPr id="5" name="Picture 4" descr="network_virtu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560320"/>
            <a:ext cx="5669280" cy="32360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0" y="1645920"/>
            <a:ext cx="5303520" cy="109728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Applications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Cloud computing: multi-tenant resource sharing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5G network slicing: dedicated VN per service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Internet of Drones (IoD) in Industry 4.0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Edge computing for latency-sensitive 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017520"/>
            <a:ext cx="5303520" cy="109728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FF9F43"/>
                </a:solidFill>
                <a:latin typeface="Calibri"/>
              </a:defRPr>
            </a:pPr>
            <a:r>
              <a:t>VNE Problem (NP-hard)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Node mapping: assign virtual nodes → physical nodes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Link mapping: route virtual links → physical paths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Constraints: CPU capacity, bandwidth, domain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389120"/>
            <a:ext cx="5303520" cy="13716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A27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A27AF0"/>
                </a:solidFill>
                <a:latin typeface="Calibri"/>
              </a:defRPr>
            </a:pPr>
            <a:r>
              <a:t>Key Challenges in Multi-Domain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Combinatorial explosion: O(|Np|^|Nv|) possible mappings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Coupled decisions: node placement affects link routing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Cross-domain routing via boundary nodes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Dynamic arrivals: online problem with resource fragmentation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II. INTRODUCTION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Motivation: Why Compare Multiple Approaches?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0F0F0"/>
                </a:solidFill>
                <a:latin typeface="Calibri"/>
              </a:defRPr>
            </a:pPr>
            <a:r>
              <a:t>No single paradigm dominates VNE. We systematically compare three paradigms to understand their trade-offs: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3474720" cy="22860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Heuristic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Greedy node ranking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Kruskal MST for links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Fast, simple, deterministic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No global optimization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2560320"/>
            <a:ext cx="3474720" cy="22860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E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E9AF5"/>
                </a:solidFill>
                <a:latin typeface="Calibri"/>
              </a:defRPr>
            </a:pPr>
            <a:r>
              <a:t>Metaheuristic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Particle Swarm Optimization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Global search over solution space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Genetic mutation avoids local optima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No learning between requests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560320"/>
            <a:ext cx="3474720" cy="22860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A27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A27AF0"/>
                </a:solidFill>
                <a:latin typeface="Calibri"/>
              </a:defRPr>
            </a:pPr>
            <a:r>
              <a:t>Learning-based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Q-Learning / Deep Q-Networks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Swarm RL (multiple DQN agents)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Adapts and improves over time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Training cost, generalization issues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120640"/>
            <a:ext cx="9418320" cy="109728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2000" b="1">
                <a:solidFill>
                  <a:srgbClr val="FF9F43"/>
                </a:solidFill>
                <a:latin typeface="Calibri"/>
              </a:defRPr>
            </a:pPr>
            <a:r>
              <a:t>Our Approach: Combine all three → PSO + DQN Swarm + Multi-Path allocation</a:t>
            </a:r>
          </a:p>
          <a:p>
            <a:pPr algn="ctr"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B0B0C0"/>
                </a:solidFill>
                <a:latin typeface="Calibri"/>
              </a:defRPr>
            </a:pPr>
            <a:r>
              <a:t>6 algorithms from simple greedy to advanced Swarm RL + PSO hybrids, all in a unified multi-domain framework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III. PROBLEM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Substrate Network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C0"/>
                </a:solidFill>
                <a:latin typeface="Calibri"/>
              </a:defRPr>
            </a:pPr>
            <a:r>
              <a:t>Based on MP-VNE [Zhang et al., 2022]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0972800" cy="502920"/>
          </a:xfrm>
          <a:prstGeom prst="roundRect">
            <a:avLst/>
          </a:prstGeom>
          <a:solidFill>
            <a:srgbClr val="1A1A30"/>
          </a:solidFill>
          <a:ln w="19050">
            <a:solidFill>
              <a:srgbClr val="A27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0">
                <a:solidFill>
                  <a:srgbClr val="56CCF2"/>
                </a:solidFill>
                <a:latin typeface="Consolas"/>
              </a:defRPr>
            </a:pPr>
            <a:r>
              <a:t>Gˢ = ({Gᵢˢ}ᵢ₌₁ᴰ, Lˢ_inter)    |    Each domain: Gᵢˢ = (Nᵢˢ, Lᵢˢ)  with boundary nodes Bᵢˢ ⊂ Nᵢˢ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651760"/>
          <a:ext cx="5303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828800"/>
                <a:gridCol w="1463040"/>
              </a:tblGrid>
              <a:tr h="402336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Symbol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Range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Node CPU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Cₙˢ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Processing capacity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[50, 100]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Node Price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Pₙˢ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Unit price of CPU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[1, 5]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Node Delay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Dₙˢ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Processing delay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[0.1, 2.0]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Link BW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Bₗˢ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Bandwidth capacity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[500, 1000]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2651760"/>
          <a:ext cx="5303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14400"/>
                <a:gridCol w="164592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Inter-Domain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Symbol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Range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Link BW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Bₗˢ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Bandwidth capacity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[1000, 5000]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Link Price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Pₗˢ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Unit price of BW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[0.5, 2.0]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Link Delay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Dₗˢ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Transmission delay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[5.0, 20.0]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0C0"/>
                </a:solidFill>
                <a:latin typeface="Calibri"/>
              </a:defRPr>
            </a:pPr>
            <a:r>
              <a:t>Topology: Erdos-Renyi random graph, edge probability = 0.5 per domain, 4 domains × 30 nodes = 120 total nodes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III. PROBLEM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Virtual Network Request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029200" cy="457200"/>
          </a:xfrm>
          <a:prstGeom prst="roundRect">
            <a:avLst/>
          </a:prstGeom>
          <a:solidFill>
            <a:srgbClr val="1A1A30"/>
          </a:solidFill>
          <a:ln w="19050">
            <a:solidFill>
              <a:srgbClr val="A27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0">
                <a:solidFill>
                  <a:srgbClr val="56CCF2"/>
                </a:solidFill>
                <a:latin typeface="Consolas"/>
              </a:defRPr>
            </a:pPr>
            <a:r>
              <a:t>Gᵛ = (Nᵛ, Lᵛ)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560320"/>
          <a:ext cx="5029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22960"/>
                <a:gridCol w="16459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Symbol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Range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Node CPU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Cᵢᵛ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CPU demand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[1, 20]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Link BW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Bᵢⱼᵛ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Bandwidth demand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[1, 50]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Domain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Dᵢᵛ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Allowed domains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Subset of {1..D}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217920" y="1828800"/>
            <a:ext cx="5303520" cy="256032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56CCF2"/>
                </a:solidFill>
                <a:latin typeface="Calibri"/>
              </a:defRPr>
            </a:pPr>
            <a:r>
              <a:t>Request Arrival Model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Nodes per VNR: Uniform U(3, 10)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Edge probability: 0.5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Arrival process: Poisson, λ = 0.04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Lifetime: Exponential, mean = 500 time units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Dynamic online problem — requests arrive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and depart continuously over simulation 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III. PROBLEM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VNE Mapping Definition &amp; Constraints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303520" cy="22860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E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E9AF5"/>
                </a:solidFill>
                <a:latin typeface="Calibri"/>
              </a:defRPr>
            </a:pPr>
            <a:r>
              <a:t>Node Mapping: Mₙ : Nᵛ → Nˢ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Resource: Cᵢᵛ ≤ C_avail(Mₙ(nᵢᵛ))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Domain: Mₙ(nᵢᵛ) ∈ Domain(Dᵢᵛ)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One-to-one: Mₙ(nᵢᵛ) ≠ Mₙ(nⱼᵛ)  ∀ i ≠ j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Each virtual node maps to exactly one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physical node with sufficient CPU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303520" cy="22860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Link Mapping: Mₗ : Lᵛ → P(Lˢ)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Single-path: one physical path per virtual link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Multi-path: split BW across ≤ 5 paths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Bᵢⱼᵛ ≤ Σ B_avail(p)  for all paths p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Multi-path improves acceptance rate by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utilizing residual bandwidth across paths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89120"/>
            <a:ext cx="10972800" cy="1645920"/>
          </a:xfrm>
          <a:prstGeom prst="roundRect">
            <a:avLst/>
          </a:prstGeom>
          <a:solidFill>
            <a:srgbClr val="24243E"/>
          </a:solidFill>
          <a:ln w="254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l">
              <a:defRPr sz="1800" b="1">
                <a:solidFill>
                  <a:srgbClr val="FF9F43"/>
                </a:solidFill>
                <a:latin typeface="Calibri"/>
              </a:defRPr>
            </a:pPr>
            <a:r>
              <a:t>Optimization Objective</a:t>
            </a:r>
          </a:p>
          <a:p>
            <a:pPr algn="ctr"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56CCF2"/>
                </a:solidFill>
                <a:latin typeface="Consolas"/>
              </a:defRPr>
            </a:pPr>
            <a:r>
              <a:t>min Cost(Gᵛ) = Σ Cᵛₙ × Pˢ_M(nᵛ)  +  Σ Bᵛₗ × Pˢₗ × hops</a:t>
            </a:r>
          </a:p>
          <a:p>
            <a:pPr algn="ctr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B0B0C0"/>
                </a:solidFill>
                <a:latin typeface="Consolas"/>
              </a:defRPr>
            </a:pPr>
            <a:r>
              <a:t>                    Node cost                    Link cost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III. PROBLEM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Evaluation Metrics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10058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572000"/>
                <a:gridCol w="3840480"/>
              </a:tblGrid>
              <a:tr h="5334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Formula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RAC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# Accepted VNRs / # Total VNRs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Request Acceptance Rate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LAR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Σ REV(v) × lifetime(v) / T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Long-term Average Revenue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R2C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Σ REV × lifetime / Σ COST × lifetime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Revenue-to-Cost Ratio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Avg Cost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Σ COST(v) / # Successes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Average per-embedding cost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Avg Delay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Σ PathDelay(v) / # Successes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Average physical path latency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212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0C0"/>
                </a:solidFill>
                <a:latin typeface="Calibri"/>
              </a:defRPr>
            </a:pPr>
            <a:r>
              <a:t>Revenue proxy: REV(v) = Σ Cᵛₙ + Σ Bᵛₗ  (total resource demand)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IV. 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Three Paradigms for Solving VNE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0116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  <a:gridCol w="2743200"/>
              </a:tblGrid>
              <a:tr h="6858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Paradigm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Strengths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Weaknesses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Heuristic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Greedy ranking, MST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Fast, simple, deterministic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 global optimization, myopic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Metaheuristic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PSO, GA, ACO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Global search, avoids local optima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Slow, no learning between requests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Learning-based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Q-Learning, DQN, GNN+RL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Adapts over time, learns patterns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Training cost, generalization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29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0B0C0"/>
                </a:solidFill>
                <a:latin typeface="Calibri"/>
              </a:defRPr>
            </a:pPr>
            <a:r>
              <a:t>Our work spans all three paradigms with 6 algorithms, exploring how combining them yields better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IV. 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MP-VNE [Zhang et al., 2022]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C0"/>
                </a:solidFill>
                <a:latin typeface="Calibri"/>
              </a:defRPr>
            </a:pPr>
            <a:r>
              <a:t>Multi-Domain VNE Based on Multi-Objective Optimization for IoD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03520" cy="32004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E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E9AF5"/>
                </a:solidFill>
                <a:latin typeface="Calibri"/>
              </a:defRPr>
            </a:pPr>
            <a:r>
              <a:t>Key Contributions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Centralized hierarchical multi-domain architecture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with Global-Local controllers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PSO with genetic mutation (10% random reset)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to avoid local optima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Estimated mapping cost for candidate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node pre-selection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Weighted summation converting multi-objective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(cost + delay) into single objective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303520" cy="164592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Results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Outperforms MC-VNM, VNE-PSO, LID-VNE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Acceptance rate: ~60% (steady)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Mapping cost: 650-750 (best)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Mapping delay: ~460 (minimum)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749039"/>
            <a:ext cx="5303520" cy="128016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FF9F43"/>
                </a:solidFill>
                <a:latin typeface="Calibri"/>
              </a:defRPr>
            </a:pPr>
            <a:r>
              <a:t>Our Adoption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Problem formulation and multi-domain architecture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PSO framework as foundation for all 6 algorithms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Multi-path link allocation mechanism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IV. 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FlagVNE [Wang et al., IJCAI 2024]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C0"/>
                </a:solidFill>
                <a:latin typeface="Calibri"/>
              </a:defRPr>
            </a:pPr>
            <a:r>
              <a:t>Flexible and Generalizable RL Framework for Network Resource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474720" cy="347472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E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E9AF5"/>
                </a:solidFill>
                <a:latin typeface="Calibri"/>
              </a:defRPr>
            </a:pPr>
            <a:r>
              <a:t>Bidirectional Action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Joint selection of virtual AND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physical node simultaneously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aₜ = (nᵛ, nᵖ)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Expands action space from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|Nᵖ|×1 to |Nᵖ|×|Nᵛ|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Provably better than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unidirectional (Theorem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474720" cy="347472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56CCF2"/>
                </a:solidFill>
                <a:latin typeface="Calibri"/>
              </a:defRPr>
            </a:pPr>
            <a:r>
              <a:t>Hierarchical Decoder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Bilevel policy decomposition: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π(aₜ|sₜ) = πᴴ(nᵛ|sₜ) · πᴸ(nᵖ|sₜ,nᵛ)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High-level: which virtual node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Low-level: where to place it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Reduces distribution size: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|Nᵛ|×|Nᵖ| → |Nᵛ|+|Nᵖ|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474720" cy="347472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Meta-RL + Curriculum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MAML for varying VNR sizes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as distinct tasks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Curriculum scheduling: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1. Start with smallest VNRs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2. Monitor policy entropy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3. Add larger sizes when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 entropy &lt; threshold δ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Result: +10.4% RAC over A3C-GCN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577840"/>
            <a:ext cx="10972800" cy="73152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FF9F43"/>
                </a:solidFill>
                <a:latin typeface="Calibri"/>
              </a:defRPr>
            </a:pPr>
            <a:r>
              <a:t>Our Reference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FlagVNE represents state-of-the-art RL-VNE. Bidirectional actions and meta-RL are future work directions for our system.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IV. 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Swarm RL Using PSO [Srini-Rohan, GitHub]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303520" cy="201168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A27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A27AF0"/>
                </a:solidFill>
                <a:latin typeface="Calibri"/>
              </a:defRPr>
            </a:pPr>
            <a:r>
              <a:t>Core Idea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Multiple DQN agents act as PSO particles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Each agent explores independently, shares discoveries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PSO equations influence Q-value updates: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Q_target += β(Q_pBest - Q_curr) + δ(Q_gBest - Q_curr)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Personal best (pBest) + Global best (gBest)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303520" cy="201168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Results (CartPole Benchmark)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Single DQN agent: 130 episodes to converge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4-agent PSO swarm: 117 episodes (best agent)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~10% faster convergence through collaboration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Demonstrates: multi-agent knowledge sharing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accelerates RL convergence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114800"/>
            <a:ext cx="10972800" cy="13716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FF9F43"/>
                </a:solidFill>
                <a:latin typeface="Calibri"/>
              </a:defRPr>
            </a:pPr>
            <a:r>
              <a:t>Our Adoption: Adapted Swarm RL for VNE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SRL-VNE: DQN swarm for node selection + single-path Dijkstra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MP-DQN-VNE: DQN-guided PSO fitness + multi-path allocation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SRL-MP-VNE: Full swarm RL + PSO + multi-path (most advanced hybrid)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IV. 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Virne Benchmark [Wang et al., ICLR 2026]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C0"/>
                </a:solidFill>
                <a:latin typeface="Calibri"/>
              </a:defRPr>
            </a:pPr>
            <a:r>
              <a:t>Comprehensive Benchmark for Deep RL-based NFV Resource Allocation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1168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Previous Benchmarks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Virne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Scenarios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Cloud only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Cloud + Edge + 5G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Algorithms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1-5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30+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RL support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Gym-style environments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Evaluation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Effectiveness only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Multi-perspective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GNN support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MLP/CNN/GCN/GAT/DualGCN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2011680"/>
            <a:ext cx="4206240" cy="27432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56CCF2"/>
                </a:solidFill>
                <a:latin typeface="Calibri"/>
              </a:defRPr>
            </a:pPr>
            <a:r>
              <a:t>Key Findings from Virne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PPO-DualGAT best: 78.1% RAC, 0.74 R2C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Fixed intermediate reward (0.1) is optimal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Action masking: +5.3% acceptance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Generalization is biggest open problem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→ policies degrade on unseen traffic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We use Virne's metrics &amp; methodology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V. 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System Architecture: Centralized Hierarchical Multi-Domain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0"/>
            <a:ext cx="7315200" cy="456638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828800"/>
            <a:ext cx="3840480" cy="18288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E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E9AF5"/>
                </a:solidFill>
                <a:latin typeface="Calibri"/>
              </a:defRPr>
            </a:pPr>
            <a:r>
              <a:t>Global Controller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Orchestrates optimization algorithm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Inter-domain path routing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Commit/rollback allocations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931920"/>
            <a:ext cx="3840480" cy="18288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Local Controllers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Per-domain resource management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Candidate node selection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Intra-domain path caching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V. 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Two-Phase Mapping Pipeline</a:t>
            </a:r>
          </a:p>
        </p:txBody>
      </p:sp>
      <p:pic>
        <p:nvPicPr>
          <p:cNvPr id="4" name="Picture 3" descr="two_phas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0"/>
            <a:ext cx="6217920" cy="56118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58000" y="1828800"/>
            <a:ext cx="4754880" cy="164592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56CCF2"/>
                </a:solidFill>
                <a:latin typeface="Calibri"/>
              </a:defRPr>
            </a:pPr>
            <a:r>
              <a:t>Single-Path Link Mapping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One physical path per virtual link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Dijkstra or Kruskal MST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Simple but may fail if path lacks BW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Used by: MC-VNM, MPQ-VNE, SRL-VNE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3749039"/>
            <a:ext cx="4754880" cy="201168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Multi-Path Link Mapping (≤ 5 paths)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Split bandwidth across multiple paths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1. Find shortest path → allocate min(demand, avail)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2. Update remaining demand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3. Repeat until satisfied or 5 paths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4. Rollback if insufficient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Used by: MP-VNE, MP-DQN-VNE, SRL-MP-VNE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V. 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Algorithm 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Node Mapping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Link Mapping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Learning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Paths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MC-VNM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Greedy ranking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Kruskal MST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Single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MP-VNE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PSO (20p, 15i)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Floyd shortest path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Multi (≤5)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MPQ-VNE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Q-Learning (ε-greedy)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Dijkstra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Q-table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Single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SRL-VNE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DQN + PSO Swarm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Dijkstra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DQN (4 agents)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Single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MP-DQN-VNE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PSO + DQN fitness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Floyd shortest path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DQN (4 agents)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Multi (≤5)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SRL-MP-VNE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PSO + Swarm RL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Floyd shortest path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DQN (4 agents)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Multi (≤5)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algorithm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937760"/>
            <a:ext cx="11430000" cy="770815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V. 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Method 1: MC-VNM — Baseline Greedy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303520" cy="256032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E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E9AF5"/>
                </a:solidFill>
                <a:latin typeface="Calibri"/>
              </a:defRPr>
            </a:pPr>
            <a:r>
              <a:t>Node Mapping — Greedy Cost-Efficient Selection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1. Sort virtual nodes by CPU demand (descending)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 → hardest-to-place first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2. Score each candidate substrate node: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 Score(nˢ) = P_cpu(nˢ) / (C_avail(nˢ) + ε)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3. Select node with LOWEST score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 → cheapest per available CPU unit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303520" cy="256032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Link Mapping — Kruskal's MST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1. Sort substrate links by cost: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 D_trans(l) + P_bw(l) × B_demand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2. Build MST using Union-Find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3. Find path in MST via BFS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4. Single path per virtual 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663440"/>
            <a:ext cx="5303520" cy="13716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Pros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Fastest algorithm — no iterations, no learning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Deterministic — reproducible results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Simple to implement and debug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663440"/>
            <a:ext cx="5303520" cy="13716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FF9F43"/>
                </a:solidFill>
                <a:latin typeface="Calibri"/>
              </a:defRPr>
            </a:pPr>
            <a:r>
              <a:t>Cons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Myopic — each node placed independently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No global optimization of mapping cost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Single-path limits bandwidth flexibility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V. 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Method 2: MP-VNE — PSO + Multi-Path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6858000" cy="164592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E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E9AF5"/>
                </a:solidFill>
                <a:latin typeface="Calibri"/>
              </a:defRPr>
            </a:pPr>
            <a:r>
              <a:t>Particle Swarm Optimization for Node Mapping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Each particle = a complete node mapping scheme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Swarm of particles searches solution space collectively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Velocity: vᵢ = w·vᵢ + c₁·r₁·(pbestᵢ - xᵢ) + c₂·r₂·(gbest - xᵢ)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Position: xᵢ = xᵢ + vᵢ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749039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Particles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Population size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Iterations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Search depth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w (inertia)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0.7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Momentum of direction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c₁ (cognitive)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1.5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Pull toward personal best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c₂ (social)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1.5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Pull toward global best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Mutation rate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10% random reset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943600" y="3749039"/>
            <a:ext cx="5669280" cy="109728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56CCF2"/>
                </a:solidFill>
                <a:latin typeface="Calibri"/>
              </a:defRPr>
            </a:pPr>
            <a:r>
              <a:t>Fitness Function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f(x) = Σ NodeCost + Σ LinkCost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LinkCost = D_trans + P_bw × B_demand per hop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5120640"/>
            <a:ext cx="5669280" cy="118872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FF9F43"/>
                </a:solidFill>
                <a:latin typeface="Calibri"/>
              </a:defRPr>
            </a:pPr>
            <a:r>
              <a:t>Genetic Mutation (Key Innovation)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10% probability of random position reset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Prevents PSO from converging to local optima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Inspired by genetic algorithm crossover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V. 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Method 2: MP-VNE — Multi-Path Link Allocation</a:t>
            </a:r>
          </a:p>
        </p:txBody>
      </p:sp>
      <p:pic>
        <p:nvPicPr>
          <p:cNvPr id="4" name="Picture 3" descr="multipath_al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9418320" cy="488132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V. 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Method 3: MPQ-VNE — Q-Learning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303520" cy="32004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E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E9AF5"/>
                </a:solidFill>
                <a:latin typeface="Calibri"/>
              </a:defRPr>
            </a:pPr>
            <a:r>
              <a:t>Q-Learning Node Selection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Q-table maps (domain_id, snode_id) → Q-value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Initialization: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Q(s) = C_cpu(nˢ) / (P_cpu(nˢ) + ε)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Action selection (ε-greedy):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90%: select argmax Q(s)  (exploit)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10%: select random  (explore)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Q-update after each VNR: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Q(s) ← Q(s) + α·(reward - Q(s))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82880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Learning rate (α)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Discount factor (γ)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0.9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Exploration (ε)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Reward (success/fail)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+1.0 / -1.0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217920" y="3931920"/>
            <a:ext cx="5029200" cy="100584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Link Mapping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Dijkstra's single shortest path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Cost: D_trans + P_bw × B_demand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5212080"/>
            <a:ext cx="5029200" cy="9144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FF9F43"/>
                </a:solidFill>
                <a:latin typeface="Calibri"/>
              </a:defRPr>
            </a:pPr>
            <a:r>
              <a:t>Limitation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Tabular Q-learning doesn't scale to large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or continuous state spaces → need DQN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V. 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Method 4: SRL-VNE — DQN + PSO Swarm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657600" cy="18288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E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E9AF5"/>
                </a:solidFill>
                <a:latin typeface="Calibri"/>
              </a:defRPr>
            </a:pPr>
            <a:r>
              <a:t>DQN Architecture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Input: 6-dim state vector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→ FC 64 → ReLU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→ FC 64 → ReLU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→ Output: 20 Q-values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480560" y="1828800"/>
          <a:ext cx="4114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Norm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v_cpu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Virtual node CPU demand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÷ 20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s_cpu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Substrate node avail CPU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÷ 100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s_bw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Avg available bandwidth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÷ 500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s_degree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Node degree in network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÷ 1000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progress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Mapping completion ratio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[0,1]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bias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Constant term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869680" y="1828800"/>
            <a:ext cx="2743200" cy="256032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A27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A27AF0"/>
                </a:solidFill>
                <a:latin typeface="Calibri"/>
              </a:defRPr>
            </a:pPr>
            <a:r>
              <a:t>Swarm (4 Agents)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Each agent = DQN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Track pBest, gBest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PSO Q-update: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Q += β(Q_pBest-Q)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 + δ(Q_gBest-Q)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β = δ = 0.1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663440"/>
            <a:ext cx="5029200" cy="146304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56CCF2"/>
                </a:solidFill>
                <a:latin typeface="Calibri"/>
              </a:defRPr>
            </a:pPr>
            <a:r>
              <a:t>Training Details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Memory buffer: 2000 transitions, batch: 64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ε: 1.0 → 0.05 (decay 0.995 per episode)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γ (discount): 0.95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4663440"/>
            <a:ext cx="5577840" cy="146304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Reward Function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R = 100 × Revenue / (Cost + ε)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Revenue = Σ CPU_demand + Σ BW_demand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Link mapping: Dijkstra (single path)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V. 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Method 4: SRL-VNE — PSO Swarm Knowledge Sharing</a:t>
            </a:r>
          </a:p>
        </p:txBody>
      </p:sp>
      <p:pic>
        <p:nvPicPr>
          <p:cNvPr id="4" name="Picture 3" descr="pso_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9875520" cy="578497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V. 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Method 5: MP-DQN-VNE — PSO Guided by DQN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0972800" cy="82296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FF9F43"/>
                </a:solidFill>
                <a:latin typeface="Calibri"/>
              </a:defRPr>
            </a:pPr>
            <a:r>
              <a:t>Key Innovation: DQN acts as an intelligent fitness function for PSO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PSO handles combinatorial search; DQN provides learned heuristics about node quality. DQN improves over time → PSO fitness becomes more accurate.</a:t>
            </a:r>
          </a:p>
        </p:txBody>
      </p:sp>
      <p:pic>
        <p:nvPicPr>
          <p:cNvPr id="5" name="Picture 4" descr="mp_dq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743200"/>
            <a:ext cx="7132320" cy="47148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2926080"/>
            <a:ext cx="3840480" cy="128016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Link Mapping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Multi-path allocation (up to 5 paths)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Same as MP-VNE mechanism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Floyd shortest path routing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480560"/>
            <a:ext cx="3840480" cy="118872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A27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A27AF0"/>
                </a:solidFill>
                <a:latin typeface="Calibri"/>
              </a:defRPr>
            </a:pPr>
            <a:r>
              <a:t>Training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All 4 swarm agents receive same reward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Cooperative learning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R = 100 × Revenue / (Cost + ε)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V. 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Method 6: SRL-MP-VNE — Full Swarm RL + Multi-Path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C0"/>
                </a:solidFill>
                <a:latin typeface="Calibri"/>
              </a:defRPr>
            </a:pPr>
            <a:r>
              <a:t>Most complete hybrid — combines all techniques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11680"/>
          <a:ext cx="4572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810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Configuration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PSO particles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PSO iterations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50 (deepest search)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Swarm agents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4 DQN agents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Max paths/link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Reward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+100 (success) / -50 (fail)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srl_mp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217920" cy="328255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572000"/>
          <a:ext cx="10972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MP-DQN-VNE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SRL-MP-VNE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PSO iterations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50 (deeper search)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Reward signal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Continuous R2C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Binary (+100/-50)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Degree normalization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÷ 1000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÷ 10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VI.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Experimental Setup — Substrate Network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</a:tblGrid>
              <a:tr h="39188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Number of domains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Nodes per domain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Boundary nodes/domain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Total physical nodes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Intra-domain edge prob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Inter-domain edge prob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828800"/>
          <a:ext cx="5669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Resource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Intra-domain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Inter-domain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CPU capacity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U(50, 100)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CPU price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U(1, 5)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Processing delay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U(0.1, 2.0)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BW capacity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U(500, 1000)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U(1000, 5000)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BW price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U(0.1, 1.0)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U(0.5, 2.0)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Trans. delay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U(1.0, 10.0)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U(5.0, 20.0)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VI.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Experimental Setup — Virtual Requests &amp; Evaluation Protocol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VNR Parameter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Nodes per VNR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U(3, 10)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Edge probability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CPU demand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U(1, 20)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Bandwidth demand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U(1, 50)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Arrival process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Poisson, λ=0.04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Lifetime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Exp, mean=500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943600" y="1828800"/>
            <a:ext cx="5669280" cy="18288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E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E9AF5"/>
                </a:solidFill>
                <a:latin typeface="Calibri"/>
              </a:defRPr>
            </a:pPr>
            <a:r>
              <a:t>Evaluation Protocol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3 independent runs per algorithm, same dataset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Results averaged with ± std deviation bands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6 metrics plotted over simulation time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Binned every 1000 time units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3931920"/>
          <a:ext cx="56692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02336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What it Measures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RAC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Request acceptance rate over time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LAR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Long-term average revenue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R2C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Revenue-to-cost efficiency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Avg Cost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Average per-embedding cost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Avg Delay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Average physical path latency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Success #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Cumulative successful embeddings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VII. RESULTS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Performance Comparison — 6 Metrics Over Time</a:t>
            </a:r>
          </a:p>
        </p:txBody>
      </p:sp>
      <p:pic>
        <p:nvPicPr>
          <p:cNvPr id="4" name="Picture 3" descr="algorithm_comparison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11247120" cy="62484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VII. RESULTS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Analysis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42672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Aspect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Finding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Acceptance Rate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Multi-path methods (MP-VNE, MP-DQN-VNE, SRL-MP-VNE) achieve higher RAC — flexible BW splitting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Embedding Cost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PSO-based methods find lower-cost mappings than greedy MC-VNM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Learning Effect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RL methods show improving performance over time as DQN agents learn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Delay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PSO fitness explicitly includes delay → lower average latency than greedy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Revenue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Higher acceptance + lower cost → higher long-term revenue for hybrid methods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75488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377440"/>
                <a:gridCol w="2286000"/>
                <a:gridCol w="2286000"/>
              </a:tblGrid>
              <a:tr h="261257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Speed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Quality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Scalability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Learning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MC-VNM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★★★★★ Fastest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★☆ Lowest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★★★★ Good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MP-VNE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★★★ Medium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★★★ Good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★★★ Medium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MPQ-VNE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★★★★ Fast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 Medium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★★★★ Good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Q-table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SRL-VNE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 Slower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★★★ Good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★★★ Medium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DQN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MP-DQN-VNE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 Slowest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★★★★ High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★★★ Medium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DQN+PSO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26125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SRL-MP-VNE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 Slowest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★★★★★ Highest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★★★ Medium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Swarm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VII. RESULTS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Comparison with Literature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22860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Source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Best Method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RAC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Key Insight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MP-VNE [Zhang 2022]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MP-VNE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~60%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PSO + mutation for multi-domain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FlagVNE [IJCAI 2024]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FlagVNE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+10.4% vs A3C-GCN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Bidirectional + meta-RL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Virne [ICLR 2026]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PPO-DualGAT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78.1%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GNN encoder + action masking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Our work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SRL-MP-VNE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(see plots)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PSO + Swarm DQN + multi-path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389120"/>
            <a:ext cx="5303520" cy="18288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E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E9AF5"/>
                </a:solidFill>
                <a:latin typeface="Calibri"/>
              </a:defRPr>
            </a:pPr>
            <a:r>
              <a:t>Our Unique Contributions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Multi-domain focus (vs single-domain in Virne/FlagVNE)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Systematic comparison of 3 paradigms in unified framework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Novel PSO + DQN hybrid combinations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Multi-path link allocation across all PSO methods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4389120"/>
            <a:ext cx="5303520" cy="18288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FF9F43"/>
                </a:solidFill>
                <a:latin typeface="Calibri"/>
              </a:defRPr>
            </a:pPr>
            <a:r>
              <a:t>Gaps to Address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No GNN encoder yet (Virne: DualGAT is best)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No bidirectional actions (FlagVNE advantage)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No meta-RL for generalization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Limited to synthetic topology (120 nodes)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VIII. 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303520" cy="22860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E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E9AF5"/>
                </a:solidFill>
                <a:latin typeface="Calibri"/>
              </a:defRPr>
            </a:pPr>
            <a:r>
              <a:t>What We Built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Unified multi-domain VNE framework with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Global-Local controller architecture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6 algorithms: greedy → PSO → Q-Learning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→ DQN Swarm → PSO+DQN → Full hybrid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Multi-path link allocation (≤ 5 paths)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Automated evaluation (6 metrics, 3 runs)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303520" cy="22860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48D1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defRPr sz="1500" b="1">
                <a:solidFill>
                  <a:srgbClr val="48D1A5"/>
                </a:solidFill>
                <a:latin typeface="Calibri"/>
              </a:defRPr>
            </a:pPr>
            <a:r>
              <a:t>Key Findings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PSO &gt;&gt; Greedy (global search matters)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DQN-guided PSO combines learned heuristics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with metaheuristic search effectively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Swarm intelligence (4 agents + PSO sharing)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  accelerates RL convergence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Multi-path ↑ acceptance, ↑ complexity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F0F0F0"/>
                </a:solidFill>
                <a:latin typeface="Calibri"/>
              </a:defRPr>
            </a:pPr>
            <a:r>
              <a:t>• Clear speed–quality trade-off exists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VIII. 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Future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303520"/>
                <a:gridCol w="2743200"/>
              </a:tblGrid>
              <a:tr h="58782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Direction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Reference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GNN-based encoders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GCN, GAT, DualGAT to capture graph topology in state representation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Virne [ICLR 2026]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Bidirectional actions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Joint virtual-physical node selection — provably better search space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FlagVNE [IJCAI 2024]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Meta-RL + curriculum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Generalize across VNR sizes without retraining from scratch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FlagVNE [IJCAI 2024]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Latency / energy aware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Multi-objective optimization for edge and 5G scenarios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Virne [ICLR 2026]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Larger-scale evaluation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Real topologies: GEANT (40), BRAIN, WX500 (500 nodes)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Virne [ICLR 2026]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Virne integration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Standardized comparison against 30+ algorithms in unified benchmark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Virne [ICLR 2026]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IX.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0F0F0"/>
                </a:solidFill>
                <a:latin typeface="Calibri"/>
              </a:defRPr>
            </a:pPr>
            <a:r>
              <a:t>[1] P. Zhang, C. Wang, Z. Qin, H. Cao, "A Multi-Domain VNE Algorithm Based on Multi-Objective Optimization for IoD Architecture in Industry 4.0," arXiv:2202.12830, 2022.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F0F0F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0F0F0"/>
                </a:solidFill>
                <a:latin typeface="Calibri"/>
              </a:defRPr>
            </a:pPr>
            <a:r>
              <a:t>[2] T. Wang, Q. Fan, C. Wang, L. Yang, L. Ding, N. J. Yuan, H. Xiong, "FlagVNE: A Flexible and Generalizable Reinforcement Learning Framework for Network Resource Allocation," IJCAI, 2024.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F0F0F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0F0F0"/>
                </a:solidFill>
                <a:latin typeface="Calibri"/>
              </a:defRPr>
            </a:pPr>
            <a:r>
              <a:t>[3] Srini-Rohan, "Swarm Reinforcement Learning Using PSO," GitHub.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F0F0F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0F0F0"/>
                </a:solidFill>
                <a:latin typeface="Calibri"/>
              </a:defRPr>
            </a:pPr>
            <a:r>
              <a:t>[4] T. Wang, L. Deng, X. Chen, J. Wang, H. He, L. Ding, W. Wu, Q. Fan, H. Xiong, "Virne: A Comprehensive Benchmark for Deep RL-based Network Resource Allocation in NFV," ICLR, 2026.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A.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Path Finding Algorithms Used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22860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Used By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Complexity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Floyd-Warshall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MP-VNE, MP-DQN-VNE, SRL-MP-VNE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All-pairs (cached)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O(V³)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Dijkstra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MPQ-VNE, SRL-VNE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Single-source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O(E log V)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Kruskal MST+BFS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MC-VNM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Min spanning tree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O(E log E)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3931920"/>
            <a:ext cx="10972800" cy="548640"/>
          </a:xfrm>
          <a:prstGeom prst="roundRect">
            <a:avLst/>
          </a:prstGeom>
          <a:solidFill>
            <a:srgbClr val="1A1A30"/>
          </a:solidFill>
          <a:ln w="19050">
            <a:solidFill>
              <a:srgbClr val="A27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0">
                <a:solidFill>
                  <a:srgbClr val="56CCF2"/>
                </a:solidFill>
                <a:latin typeface="Consolas"/>
              </a:defRPr>
            </a:pPr>
            <a:r>
              <a:t>Link cost function:  Cost(lˢ) = D_transmission(lˢ) + P_bandwidth(lˢ) × B_demand(lᵛ)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wrap="square"/>
          <a:lstStyle/>
          <a:p>
            <a:pPr algn="l">
              <a:defRPr sz="2800" b="1">
                <a:solidFill>
                  <a:srgbClr val="F0F0F0"/>
                </a:solidFill>
                <a:latin typeface="Calibri"/>
              </a:defRPr>
            </a:pPr>
            <a:r>
              <a:t>A.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56CCF2"/>
                </a:solidFill>
                <a:latin typeface="Calibri"/>
              </a:defRPr>
            </a:pPr>
            <a:r>
              <a:t>DQN Hyperparameter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10058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  <a:gridCol w="2514600"/>
                <a:gridCol w="251460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SRL-VNE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MP-DQN-VNE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56CCF2"/>
                          </a:solidFill>
                          <a:latin typeface="Calibri"/>
                        </a:defRPr>
                      </a:pPr>
                      <a:r>
                        <a:t>SRL-MP-VNE</a:t>
                      </a:r>
                    </a:p>
                  </a:txBody>
                  <a:tcPr marL="73152" marR="73152" marT="36576" marB="36576">
                    <a:solidFill>
                      <a:srgbClr val="2D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Swarm agents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Network architecture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6→64→64→20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6→64→64→20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6→64→64→1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Memory buffer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2000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2000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2000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Batch size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γ (discount)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0.95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0.95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0.95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ε start → end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1.0 → 0.05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1.0 → 0.05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1.0 → 0.05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ε decay rate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0.995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0.995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0.995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β (pBest influence)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 marL="73152" marR="73152" marT="36576" marB="36576">
                    <a:solidFill>
                      <a:srgbClr val="2626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δ (gBest influence)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0F0F0"/>
                          </a:solidFill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 marL="73152" marR="73152" marT="36576" marB="36576"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2191695" cy="3200400"/>
          </a:xfrm>
          <a:prstGeom prst="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56CCF2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0B0C0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063240"/>
            <a:ext cx="3931920" cy="36576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